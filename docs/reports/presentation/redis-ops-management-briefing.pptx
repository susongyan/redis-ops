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开场：平台把资产、同步、风险发现和数据治理统一到可追踪流程。本次汇报先说明已经具备什么，再说明适用场景和生产推广所需条件。</a:t>
            </a:r>
          </a:p>
          <a:p/>
          <a:p>
            <a:r>
              <a:t>依据：README.md；docs/reports/platform-capability-briefing-2026-09-18.md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向上汇报可直接引用：核心工具链已形成，具备把 Redis 运维从分散操作收敛到统一流程的基础。当前不报告未经测量的节省金额或效率提升比例。建议先批准试点和验证资源，以实测结果决定推广范围。</a:t>
            </a:r>
          </a:p>
          <a:p/>
          <a:p>
            <a:r>
              <a:t>依据：README.md；docs/sync-business-key-delivery.md；docs/phase3-quality-governance.md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资产支持 Standalone、Sentinel 和 Cluster。Key 分布统计 SCAN 观测次数，不是精确去重数或内存占比。基础告警和治理已有实现，具体可用性取决于部署配置与环境权限。资源级 RBAC 尚未实现。</a:t>
            </a:r>
          </a:p>
          <a:p/>
          <a:p>
            <a:r>
              <a:t>依据：redis-ops-frontend/src/App.jsx；README.md；docs/key-distribution.md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操作入口：Region / IDC、Redis 集群、业务应用、Key 分布分析。分布分析先有限采样，再根据预算运行，结果可导出 CSV。资产关系变更不修改业务真实连接配置。该场景适合先行接入，产出可衡量的资产接入率、负责人完整率和应用关联覆盖率。</a:t>
            </a:r>
          </a:p>
          <a:p/>
          <a:p>
            <a:r>
              <a:t>依据：docs/application-bindings.md；docs/key-distribution.md；docs/asset-management-api.md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操作入口：Key 分布分析、同步任务、数据校验。全量和增量采用同一不可变包含/排除规则。首次全量含目标清空步骤，按 Key 过滤不等于仅清理目标匹配 Key，应准备专用目标。启动需近期预检查、目标写隔离、清空确认和任务号二次确认。业务变更窗口隔离源端写入并最终追平校验，业务/发布系统切换连接。未知命令、不安全跨 Slot 或跨范围事务会阻塞。切换后回退须处理新增写入，不能只改回连接。</a:t>
            </a:r>
          </a:p>
          <a:p/>
          <a:p>
            <a:r>
              <a:t>依据：docs/sync-business-key-delivery.md；docs/sync-business-key-migration-plan.md；docs/data-validation.md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长期主备关系要求符合跨 IDC、模式及版本约束。发起切换前最新同步任务需 CAUGHT_UP 且连续 RPO 样本满足要求。操作人确认源端写隔离后，Worker 排空旧方向同步，平台等待外部切换。确认外部切换后交换主备关系并创建反向全量任务，该任务仍需预检查和清空确认，不自动启动。本流程适用于受控切换，不能推导任意灾难情况下自动接管。</a:t>
            </a:r>
          </a:p>
          <a:p/>
          <a:p>
            <a:r>
              <a:t>依据：docs/rpo-calculation-and-switchover.md；redis-ops-platform/application/src/main/java/io/github/susongyan/redisops/platform/application/sync/SyncService.java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风险扫描只读，使用 SCAN 并支持限速。TTL 治理在写前再次检查 TTL 为 -1，业务已设置 TTL 时跳过。清理使用 UNLINK，审批填写变更单号或影响说明，受最大数量、限速和 checkpoint 约束。设置 TTL 不保证立即释放内存，治理效果需结合业务写入复查。删除前准备适用备份或恢复方案。</a:t>
            </a:r>
          </a:p>
          <a:p/>
          <a:p>
            <a:r>
              <a:t>依据：docs/phase2-collector-risk-alert.md；docs/phase3-quality-governance.md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分析是手动触发、同步返回，可保存结论、证据引用和建议。Agent 注册资料不驱动运行时，外部认证和通用协议能力仍待完善。AI 不直接连接 Redis 或调用生产写接口。Console 是单次请求执行器，支持目录配置的直接执行、确认和审批，不能视为完整 redis-cli。操作记录保留身份和动作，不记录完整 Key/Value。</a:t>
            </a:r>
          </a:p>
          <a:p/>
          <a:p>
            <a:r>
              <a:t>依据：docs/analysis-interface.md；docs/redis-operation-console.md；docs/audit-change-details.md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P0 补齐 Sentinel/Cluster 主从变化、MOVED/ASK、在线迁槽、持续高吞吐、多通道受限内存和生产网络故障验证。P1 加入按应用或集群授权、OIDC/LDAP、审批职责分离、RPO/spool/复制异常联动。P2 服务端重建可信证据、企业知识库、效果评测、异步分析和集成模板。自动扩缩容、双向写入、自动切流或 AI 自主生产写入不在默认承诺内。</a:t>
            </a:r>
          </a:p>
          <a:p/>
          <a:p>
            <a:r>
              <a:t>依据：docs/sync-business-key-delivery.md；docs/analysis-interface.md；docs/user-access.md；docs/architecture-contract.md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向上申请的是范围明确的试点和验收支持，不在没有生产基线的情况下承诺收益。建议共同确定成功标准，先记录现状，再比较试点后的指标。负责人、人力和排期尚待内部确认，本文不填入虚构数字。</a:t>
            </a:r>
          </a:p>
          <a:p/>
          <a:p>
            <a:r>
              <a:t>依据：docs/reports/platform-capability-briefing-2026-09-18.md，第 5、6 节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最新业务 Key 拆分交付记录为 2026-09-17，README 的规划中导航存在滞后，本页以最新交付与代码为准。历史 Phase 文档不直接作为全部当前能力清单。身份是 ADMIN/OPERATOR 本地账号，SSO/LDAP 仅预留边界。保留本页便于老板转发时准确回答成熟度与职责范围。</a:t>
            </a:r>
          </a:p>
          <a:p/>
          <a:p>
            <a:r>
              <a:t>依据：README.md；docs/sync-business-key-delivery.md；docs/phase3-quality-governance.md；docs/analysis-interface.md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左图是本地资产清单，右图是更新后的监控指标页面。截图包含本地演示资产和账户名称，仅面向内部汇报。详细流程、Key 分布结果和同步任务截图见仓库 docs/demo/README.md。</a:t>
            </a:r>
          </a:p>
          <a:p/>
          <a:p>
            <a:r>
              <a:t>依据：docs/demo/screenshots/01-clusters.png；docs/demo/screenshots/12-metrics-fixed.png；docs/demo/README.md</a:t>
            </a:r>
          </a:p>
          <a:p>
            <a:r>
              <a:t>材料口径：2026-09-18 当前仓库实现及已有记录。已实现不等于当前部署已启用或完成生产验收。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200" b="0">
              <a:solidFill>
                <a:srgbClr val="C5D9E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114300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Redis Ops</a:t>
            </a:r>
            <a:endParaRPr sz="49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2181225"/>
            <a:ext cx="104775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Redis 运维治理平台</a:t>
            </a:r>
            <a:endParaRPr sz="4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35242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平台能力、业务场景与下一阶段建议</a:t>
            </a:r>
            <a:endParaRPr sz="2250" b="0">
              <a:solidFill>
                <a:srgbClr val="C5D9E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4292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C5D9E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汇报   2026.09.18</a:t>
            </a:r>
            <a:endParaRPr sz="1800" b="0">
              <a:solidFill>
                <a:srgbClr val="C5D9E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核心工具链已形成，下一步聚焦生产试点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资产、同步、观测和治理已具备实现，部分增强及生产验收仍在推进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21431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当前交付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143250" y="214312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统一工作台覆盖资产管理、同步与校验、基础告警和治理操作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32385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业务用途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3238500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支持共享 Redis 拆分、容灾演练、内存风险治理及故障排查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43338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下一步建议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433387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先完成可靠性验收与业务试点，再完善企业权限和监控联动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成效以试点数据衡量：资产覆盖、迁移准备耗时、风险闭环时间、治理前后容量变化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平台能力全景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同一工作台覆盖资产管理、数据流转、风险发现和治理执行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857375"/>
          <a:ext cx="10972800" cy="3448050"/>
        </p:xfrm>
        <a:graphic>
          <a:graphicData uri="http://schemas.openxmlformats.org/drawingml/2006/table">
            <a:tbl>
              <a:tblPr/>
              <a:tblGrid>
                <a:gridCol w="1952625"/>
                <a:gridCol w="5429250"/>
                <a:gridCol w="3590925"/>
              </a:tblGrid>
              <a:tr h="6896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能力域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主要功能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业务产出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资产管理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集群 / 机房 / 拓扑 / 应用关联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统一台账与责任定位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同步与校验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全量增量 / Key 拆分 / 数据校验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迁移依据与容灾准备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观测与风险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基础指标 / Key 分布 / 扫描 / 告警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风险清单与排障证据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治理与操作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TTL / 数据清理 / 受控 Console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经过确认的治理记录</a:t>
                      </a:r>
                      <a:endParaRPr sz="180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共用支撑：本地账号与角色、凭据保护、确认与审批、操作审计、按需辅助分析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场景一：资产盘点与业务归属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解决“有哪些 Redis、谁负责、哪些业务在使用”的管理问题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6670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登记集群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机房与负责人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19475" y="26670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测试连接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发现拓扑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19" name="直接箭头连接符 18"/>
          <p:cNvCxnSpPr>
            <a:stCxn id="4" idx="3"/>
            <a:endCxn id="5" idx="1"/>
          </p:cNvCxnSpPr>
          <p:nvPr/>
        </p:nvCxnSpPr>
        <p:spPr>
          <a:xfrm>
            <a:off x="3152775" y="3238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7" name="矩形 6"/>
          <p:cNvSpPr>
            <a:spLocks noGrp="1"/>
          </p:cNvSpPr>
          <p:nvPr/>
        </p:nvSpPr>
        <p:spPr>
          <a:xfrm>
            <a:off x="6229350" y="26670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关联应用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确认业务关系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1" name="直接箭头连接符 20"/>
          <p:cNvCxnSpPr>
            <a:stCxn id="5" idx="3"/>
            <a:endCxn id="7" idx="1"/>
          </p:cNvCxnSpPr>
          <p:nvPr/>
        </p:nvCxnSpPr>
        <p:spPr>
          <a:xfrm>
            <a:off x="5962650" y="3238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9039225" y="2667000"/>
            <a:ext cx="2543175" cy="11430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Key 分布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补充归属线索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3" name="直接箭头连接符 22"/>
          <p:cNvCxnSpPr>
            <a:stCxn id="7" idx="3"/>
            <a:endCxn id="9" idx="1"/>
          </p:cNvCxnSpPr>
          <p:nvPr/>
        </p:nvCxnSpPr>
        <p:spPr>
          <a:xfrm>
            <a:off x="8772525" y="3238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619125" y="4524375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交付结果</a:t>
            </a:r>
            <a:endParaRPr sz="210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50673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可查询的资产清单，以及经过业务确认的应用与集群关系</a:t>
            </a:r>
            <a:endParaRPr sz="225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Key 前缀只是归属线索；Key 数量占比不能直接换算为容量或成本占比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场景二：共享 Redis 的业务拆分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将范围明确的业务数据复制到独立目标，配合业务完成连接切换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765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确认范围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核验命令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4765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专用目标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预检查与确认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1" name="直接箭头连接符 20"/>
          <p:cNvCxnSpPr>
            <a:stCxn id="4" idx="3"/>
            <a:endCxn id="5" idx="1"/>
          </p:cNvCxnSpPr>
          <p:nvPr/>
        </p:nvCxnSpPr>
        <p:spPr>
          <a:xfrm>
            <a:off x="2590800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7" name="矩形 6"/>
          <p:cNvSpPr>
            <a:spLocks noGrp="1"/>
          </p:cNvSpPr>
          <p:nvPr/>
        </p:nvSpPr>
        <p:spPr>
          <a:xfrm>
            <a:off x="5105400" y="24765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全量与增量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持续同步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3" name="直接箭头连接符 22"/>
          <p:cNvCxnSpPr>
            <a:stCxn id="5" idx="3"/>
            <a:endCxn id="7" idx="1"/>
          </p:cNvCxnSpPr>
          <p:nvPr/>
        </p:nvCxnSpPr>
        <p:spPr>
          <a:xfrm>
            <a:off x="4838700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7353300" y="24765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追平与校验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处置差异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5" name="直接箭头连接符 24"/>
          <p:cNvCxnSpPr>
            <a:stCxn id="7" idx="3"/>
            <a:endCxn id="9" idx="1"/>
          </p:cNvCxnSpPr>
          <p:nvPr/>
        </p:nvCxnSpPr>
        <p:spPr>
          <a:xfrm>
            <a:off x="7086600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9601200" y="2476500"/>
            <a:ext cx="1981200" cy="11430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外部切换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应用连接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7" name="直接箭头连接符 26"/>
          <p:cNvCxnSpPr>
            <a:stCxn id="9" idx="3"/>
            <a:endCxn id="11" idx="1"/>
          </p:cNvCxnSpPr>
          <p:nvPr/>
        </p:nvCxnSpPr>
        <p:spPr>
          <a:xfrm>
            <a:off x="9334500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3" name="矩形 12"/>
          <p:cNvSpPr>
            <a:spLocks noGrp="1"/>
          </p:cNvSpPr>
          <p:nvPr/>
        </p:nvSpPr>
        <p:spPr>
          <a:xfrm>
            <a:off x="628650" y="423862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平台提供</a:t>
            </a:r>
            <a:endParaRPr sz="210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62250" y="42195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规则快照、同步进度、差异报告和可追踪的任务操作</a:t>
            </a:r>
            <a:endParaRPr sz="21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核心实现已完成，生产集成验收待完成。首次全量须确认目标清空范围和写隔离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场景三：跨机房容灾演练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用真实同步延迟和明确的人工步骤评估切换准备情况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2095500"/>
            <a:ext cx="3190875" cy="9906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持续同步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RPO 达标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05325" y="2095500"/>
            <a:ext cx="3190875" cy="9906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外部隔离源端写入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平台确认并排空同步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91525" y="2095500"/>
            <a:ext cx="3190875" cy="9906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外部切换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业务连接或流量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2" name="直接箭头连接符 21"/>
          <p:cNvCxnSpPr>
            <a:stCxn id="4" idx="3"/>
            <a:endCxn id="5" idx="1"/>
          </p:cNvCxnSpPr>
          <p:nvPr/>
        </p:nvCxnSpPr>
        <p:spPr>
          <a:xfrm>
            <a:off x="3810000" y="2590800"/>
            <a:ext cx="695325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cxnSp>
        <p:nvCxnSpPr>
          <p:cNvPr id="23" name="直接箭头连接符 22"/>
          <p:cNvCxnSpPr>
            <a:stCxn id="5" idx="3"/>
            <a:endCxn id="6" idx="1"/>
          </p:cNvCxnSpPr>
          <p:nvPr/>
        </p:nvCxnSpPr>
        <p:spPr>
          <a:xfrm>
            <a:off x="7696200" y="2590800"/>
            <a:ext cx="695325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619125" y="3876675"/>
            <a:ext cx="3190875" cy="9906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创建反向任务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重新预检查和确认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05325" y="3876675"/>
            <a:ext cx="3190875" cy="9906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平台交换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主备关系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91525" y="3876675"/>
            <a:ext cx="3190875" cy="9906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人工确认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外部切换完成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7" name="直接箭头连接符 26"/>
          <p:cNvCxnSpPr>
            <a:stCxn id="6" idx="2"/>
            <a:endCxn id="11" idx="0"/>
          </p:cNvCxnSpPr>
          <p:nvPr/>
        </p:nvCxnSpPr>
        <p:spPr>
          <a:xfrm>
            <a:off x="9986963" y="3086100"/>
            <a:ext cx="0" cy="790575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cxnSp>
        <p:nvCxnSpPr>
          <p:cNvPr id="28" name="直接箭头连接符 27"/>
          <p:cNvCxnSpPr>
            <a:stCxn id="11" idx="1"/>
            <a:endCxn id="10" idx="3"/>
          </p:cNvCxnSpPr>
          <p:nvPr/>
        </p:nvCxnSpPr>
        <p:spPr>
          <a:xfrm flipH="1">
            <a:off x="7696200" y="4371975"/>
            <a:ext cx="695325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cxnSp>
        <p:nvCxnSpPr>
          <p:cNvPr id="29" name="直接箭头连接符 28"/>
          <p:cNvCxnSpPr>
            <a:stCxn id="10" idx="1"/>
            <a:endCxn id="9" idx="3"/>
          </p:cNvCxnSpPr>
          <p:nvPr/>
        </p:nvCxnSpPr>
        <p:spPr>
          <a:xfrm flipH="1">
            <a:off x="3810000" y="4371975"/>
            <a:ext cx="695325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RPO 表示数据落后时间；业务恢复耗时仍需演练验证。平台不自动切流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场景四：内存风险发现与治理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先确认数据用途和影响范围，再执行受控变更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2860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指标与告警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定位集群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2860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风险扫描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确认数据用途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3" name="直接箭头连接符 22"/>
          <p:cNvCxnSpPr>
            <a:stCxn id="4" idx="3"/>
            <a:endCxn id="5" idx="1"/>
          </p:cNvCxnSpPr>
          <p:nvPr/>
        </p:nvCxnSpPr>
        <p:spPr>
          <a:xfrm>
            <a:off x="2590800" y="2857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7" name="矩形 6"/>
          <p:cNvSpPr>
            <a:spLocks noGrp="1"/>
          </p:cNvSpPr>
          <p:nvPr/>
        </p:nvSpPr>
        <p:spPr>
          <a:xfrm>
            <a:off x="5105400" y="22860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Dry Run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预演影响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5" name="直接箭头连接符 24"/>
          <p:cNvCxnSpPr>
            <a:stCxn id="5" idx="3"/>
            <a:endCxn id="7" idx="1"/>
          </p:cNvCxnSpPr>
          <p:nvPr/>
        </p:nvCxnSpPr>
        <p:spPr>
          <a:xfrm>
            <a:off x="4838700" y="2857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7353300" y="2286000"/>
            <a:ext cx="1981200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人工审批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限速执行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7" name="直接箭头连接符 26"/>
          <p:cNvCxnSpPr>
            <a:stCxn id="7" idx="3"/>
            <a:endCxn id="9" idx="1"/>
          </p:cNvCxnSpPr>
          <p:nvPr/>
        </p:nvCxnSpPr>
        <p:spPr>
          <a:xfrm>
            <a:off x="7086600" y="2857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9601200" y="2286000"/>
            <a:ext cx="1981200" cy="11430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结果复核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审计留痕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9" name="直接箭头连接符 28"/>
          <p:cNvCxnSpPr>
            <a:stCxn id="9" idx="3"/>
            <a:endCxn id="11" idx="1"/>
          </p:cNvCxnSpPr>
          <p:nvPr/>
        </p:nvCxnSpPr>
        <p:spPr>
          <a:xfrm>
            <a:off x="9334500" y="28575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3" name="矩形 12"/>
          <p:cNvSpPr>
            <a:spLocks noGrp="1"/>
          </p:cNvSpPr>
          <p:nvPr/>
        </p:nvSpPr>
        <p:spPr>
          <a:xfrm>
            <a:off x="628650" y="42005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 TTL 数据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4829175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经业务确认后补充过期时间</a:t>
            </a:r>
            <a:endParaRPr sz="202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42005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废弃业务数据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4829175"/>
            <a:ext cx="5238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按影响上限清理，支持暂停与恢复</a:t>
            </a:r>
            <a:endParaRPr sz="202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治理闭环已实现，真实 Redis 验收仍需收口。大 Key 不等于可删除数据，删除无自动撤销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场景五：故障排查与操作追溯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将告警、任务证据和受控操作串联起来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765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查看异常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收集证据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19475" y="24765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按需分析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人工核实建议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19" name="直接箭头连接符 18"/>
          <p:cNvCxnSpPr>
            <a:stCxn id="4" idx="3"/>
            <a:endCxn id="5" idx="1"/>
          </p:cNvCxnSpPr>
          <p:nvPr/>
        </p:nvCxnSpPr>
        <p:spPr>
          <a:xfrm>
            <a:off x="3152775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7" name="矩形 6"/>
          <p:cNvSpPr>
            <a:spLocks noGrp="1"/>
          </p:cNvSpPr>
          <p:nvPr/>
        </p:nvSpPr>
        <p:spPr>
          <a:xfrm>
            <a:off x="6229350" y="2476500"/>
            <a:ext cx="2543175" cy="1143000"/>
          </a:xfrm>
          <a:prstGeom prst="rect">
            <a:avLst/>
          </a:prstGeom>
          <a:solidFill>
            <a:srgbClr val="EAF2F5"/>
          </a:solidFill>
          <a:ln w="9525">
            <a:solidFill>
              <a:srgbClr val="CEDBE2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受控 Console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按策略执行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1" name="直接箭头连接符 20"/>
          <p:cNvCxnSpPr>
            <a:stCxn id="5" idx="3"/>
            <a:endCxn id="7" idx="1"/>
          </p:cNvCxnSpPr>
          <p:nvPr/>
        </p:nvCxnSpPr>
        <p:spPr>
          <a:xfrm>
            <a:off x="5962650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9039225" y="2476500"/>
            <a:ext cx="2543175" cy="1143000"/>
          </a:xfrm>
          <a:prstGeom prst="rect">
            <a:avLst/>
          </a:prstGeom>
          <a:solidFill>
            <a:srgbClr val="F8EEDF"/>
          </a:solidFill>
          <a:ln w="9525">
            <a:solidFill>
              <a:srgbClr val="D4B794"/>
            </a:solidFill>
          </a:ln>
        </p:spPr>
        <p:txBody>
          <a:bodyPr lIns="95250" tIns="76200" rIns="95250" bIns="76200" anchor="ctr"/>
          <a:lstStyle/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结果核查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审计追溯</a:t>
            </a:r>
            <a:endParaRPr sz="1875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cxnSp>
        <p:nvCxnSpPr>
          <p:cNvPr id="23" name="直接箭头连接符 22"/>
          <p:cNvCxnSpPr>
            <a:stCxn id="7" idx="3"/>
            <a:endCxn id="9" idx="1"/>
          </p:cNvCxnSpPr>
          <p:nvPr/>
        </p:nvCxnSpPr>
        <p:spPr>
          <a:xfrm>
            <a:off x="8772525" y="3048000"/>
            <a:ext cx="266700" cy="0"/>
          </a:xfrm>
          <a:prstGeom prst="straightConnector1">
            <a:avLst/>
          </a:prstGeom>
          <a:ln w="19050">
            <a:solidFill>
              <a:srgbClr val="15668A"/>
            </a:solidFill>
            <a:tailEnd type="arrow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628650" y="42386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辅助分析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423862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规则分析与外部适配已有实现，AI 只提供建议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外部分析依赖配置与联调。命令目录决定准入和审批策略，超时后须核实实际执行状态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后续规划与交付优先级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建议先验证生产可靠性，再扩大覆盖范围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866900"/>
          <a:ext cx="10972800" cy="3524252"/>
        </p:xfrm>
        <a:graphic>
          <a:graphicData uri="http://schemas.openxmlformats.org/drawingml/2006/table">
            <a:tbl>
              <a:tblPr/>
              <a:tblGrid>
                <a:gridCol w="1619250"/>
                <a:gridCol w="4905375"/>
                <a:gridCol w="4448175"/>
              </a:tblGrid>
              <a:tr h="8810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优先级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重点交付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阶段验收依据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P0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生产试点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版本与故障矩阵验收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一个业务拆分和一个治理试点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故障可安全停止或恢复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试点结果获业务签收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P1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企业化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资源权限与统一身份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长期指标、同步告警与通知认证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资源访问可控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告警闭环与成效基线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P2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分析增强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可信证据和知识库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场景模板与工单集成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建议可追溯、效果可评测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重复操作配置减少</a:t>
                      </a:r>
                      <a:endParaRPr sz="1875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以上为建议规划，非已承诺排期；具体周期需结合团队投入与试点规模确定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下一阶段需要的支持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以可控试点建立成效基线，再决定推广节奏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20478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业务试点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143250" y="204787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确定一个归属清晰的应用，安排业务负责人和变更窗口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309562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验证资源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309562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提供隔离环境、接近生产的数据规模和联合验收时间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41433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准入要求</a:t>
            </a:r>
            <a:endParaRPr sz="225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4143375"/>
            <a:ext cx="82677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明确权限、工单和告警渠道中必须先完成的集成</a:t>
            </a:r>
            <a:endParaRPr sz="2100" b="0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试点结果：资产覆盖、迁移准备耗时、差异关闭率、风险闭环时间和容量变化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附录：当前交付状态与关键边界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“已实现”指仓库具备代码，不代表当前环境已启用或完成生产验收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857375"/>
          <a:ext cx="10972800" cy="3476628"/>
        </p:xfrm>
        <a:graphic>
          <a:graphicData uri="http://schemas.openxmlformats.org/drawingml/2006/table">
            <a:tbl>
              <a:tblPr/>
              <a:tblGrid>
                <a:gridCol w="3333750"/>
                <a:gridCol w="2000250"/>
                <a:gridCol w="5638800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模块</a:t>
                      </a:r>
                      <a:endParaRPr sz="165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状态</a:t>
                      </a:r>
                      <a:endParaRPr sz="165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汇报边界</a:t>
                      </a:r>
                      <a:endParaRPr sz="165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122C4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资产 / 应用 / 账号 / 审计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已实现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本地角色已具备，集群级权限待建设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同步 / Key 拆分 / 校验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核心已实现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生产故障矩阵待完成，切流由外部执行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指标 / 风险 / 告警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基础已实现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同步告警联动及长期观测待完善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TTL / 数据清理 / Console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已实现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治理真实环境验收待收口，操作受策略约束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AI 辅助分析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基础已实现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2C40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手动触发，外部服务需配置，仅提供建议</a:t>
                      </a:r>
                      <a:endParaRPr sz="1650" b="0">
                        <a:solidFill>
                          <a:srgbClr val="122C40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114300" marB="95250" anchor="ctr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平台采用旁路管理，不承载业务 Redis 流量；无自动安装、扩缩容或流量切换能力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28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22C4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附录：平台页面示例</a:t>
            </a:r>
            <a:endParaRPr sz="3300" b="1">
              <a:solidFill>
                <a:srgbClr val="122C4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统一工作台已经具备资产与运行观测页面</a:t>
            </a:r>
            <a:endParaRPr sz="18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</a:t>
            </a:r>
            <a:endParaRPr sz="12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19526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Redis 资产列表</a:t>
            </a:r>
            <a:endParaRPr sz="210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0" y="19526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5668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监控指标</a:t>
            </a:r>
            <a:endParaRPr sz="2100" b="1">
              <a:solidFill>
                <a:srgbClr val="15668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991" y="2505075"/>
            <a:ext cx="4475018" cy="30765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891" y="2505075"/>
            <a:ext cx="4475018" cy="307657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28650" y="5857875"/>
            <a:ext cx="108013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57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既有本地演示截图，2026 年 9 月；用于说明页面功能，不代表生产运行规模或验收结果</a:t>
            </a:r>
            <a:endParaRPr sz="1500" b="0">
              <a:solidFill>
                <a:srgbClr val="52657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WPS 表格</Application>
  <PresentationFormat>Converted Presentation</PresentationFormat>
  <Paragraphs>317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Hiragino Sans GB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亥时</cp:lastModifiedBy>
  <cp:revision>1</cp:revision>
  <dcterms:created xsi:type="dcterms:W3CDTF">2026-09-18T08:38:56Z</dcterms:created>
  <dcterms:modified xsi:type="dcterms:W3CDTF">2026-09-18T08:38:56Z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9B243F8BF9A1E4F4A0F8AC6A9BE55023_42</vt:lpwstr>
  </property>
  <property fmtid="{D5CDD505-2E9C-101B-9397-08002B2CF9AE}" pid="3" name="KSOProductBuildVer">
    <vt:lpwstr>2052-6.7.1.8828</vt:lpwstr>
  </property>
</Properties>
</file>